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  <p:sldMasterId id="2147483661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8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viewProps" Target="view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34" name="Picture 33"/>
          <p:cNvPicPr/>
          <p:nvPr/>
        </p:nvPicPr>
        <p:blipFill>
          <a:blip r:embed="rId2"/>
          <a:stretch/>
        </p:blipFill>
        <p:spPr>
          <a:xfrm>
            <a:off x="3602880" y="1604520"/>
            <a:ext cx="4984920" cy="3977280"/>
          </a:xfrm>
          <a:prstGeom prst="rect">
            <a:avLst/>
          </a:prstGeom>
          <a:ln>
            <a:noFill/>
          </a:ln>
        </p:spPr>
      </p:pic>
      <p:pic>
        <p:nvPicPr>
          <p:cNvPr id="35" name="Picture 34"/>
          <p:cNvPicPr/>
          <p:nvPr/>
        </p:nvPicPr>
        <p:blipFill>
          <a:blip r:embed="rId2"/>
          <a:stretch/>
        </p:blipFill>
        <p:spPr>
          <a:xfrm>
            <a:off x="3602880" y="1604520"/>
            <a:ext cx="4984920" cy="3977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pic>
        <p:nvPicPr>
          <p:cNvPr id="70" name="Picture 69"/>
          <p:cNvPicPr/>
          <p:nvPr/>
        </p:nvPicPr>
        <p:blipFill>
          <a:blip r:embed="rId2"/>
          <a:stretch/>
        </p:blipFill>
        <p:spPr>
          <a:xfrm>
            <a:off x="3602880" y="1604520"/>
            <a:ext cx="4984920" cy="3977280"/>
          </a:xfrm>
          <a:prstGeom prst="rect">
            <a:avLst/>
          </a:prstGeom>
          <a:ln>
            <a:noFill/>
          </a:ln>
        </p:spPr>
      </p:pic>
      <p:pic>
        <p:nvPicPr>
          <p:cNvPr id="71" name="Picture 70"/>
          <p:cNvPicPr/>
          <p:nvPr/>
        </p:nvPicPr>
        <p:blipFill>
          <a:blip r:embed="rId2"/>
          <a:stretch/>
        </p:blipFill>
        <p:spPr>
          <a:xfrm>
            <a:off x="3602880" y="1604520"/>
            <a:ext cx="4984920" cy="397728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</a:p>
          <a:p>
            <a:pPr marL="864000" lvl="1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</a:p>
          <a:p>
            <a:pPr marL="1296000" lvl="2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</a:p>
          <a:p>
            <a:pPr marL="1728000" lvl="3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</a:p>
          <a:p>
            <a:pPr marL="2160000" lvl="4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</a:p>
          <a:p>
            <a:pPr marL="2592000" lvl="5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</a:p>
          <a:p>
            <a:pPr marL="3024000" lvl="6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title text format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outline text format</a:t>
            </a:r>
          </a:p>
          <a:p>
            <a:pPr marL="864000" lvl="1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Second Outline Level</a:t>
            </a:r>
          </a:p>
          <a:p>
            <a:pPr marL="1296000" lvl="2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Third Outline Level</a:t>
            </a:r>
          </a:p>
          <a:p>
            <a:pPr marL="1728000" lvl="3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Fourth Outline Level</a:t>
            </a:r>
          </a:p>
          <a:p>
            <a:pPr marL="2160000" lvl="4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Fifth Outline Level</a:t>
            </a:r>
          </a:p>
          <a:p>
            <a:pPr marL="2592000" lvl="5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Sixth Outline Level</a:t>
            </a:r>
          </a:p>
          <a:p>
            <a:pPr marL="3024000" lvl="6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bash-scripting-tutorial-linux-shell-script-and-command-line-for-beginners/" TargetMode="External"/><Relationship Id="rId2" Type="http://schemas.openxmlformats.org/officeDocument/2006/relationships/hyperlink" Target="https://en.wikipedia.org/wiki/Web_crawler" TargetMode="Externa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site.com/" TargetMode="External"/><Relationship Id="rId2" Type="http://schemas.openxmlformats.org/officeDocument/2006/relationships/hyperlink" Target="http://fmi.unibuc.ro/" TargetMode="Externa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CustomShape 1"/>
          <p:cNvSpPr/>
          <p:nvPr/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b"/>
          <a:lstStyle/>
          <a:p>
            <a:pPr algn="ctr">
              <a:lnSpc>
                <a:spcPct val="100000"/>
              </a:lnSpc>
            </a:pPr>
            <a:r>
              <a:rPr lang="ro-RO" sz="6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</a:rPr>
              <a:t>LazyWGET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ro-RO" sz="28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Laurian Iacob</a:t>
            </a:r>
          </a:p>
          <a:p>
            <a:pPr algn="ctr">
              <a:lnSpc>
                <a:spcPct val="100000"/>
              </a:lnSpc>
            </a:pPr>
            <a:r>
              <a:rPr lang="ro-RO" sz="28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Antonie Belu</a:t>
            </a:r>
            <a:endParaRPr lang="en-US" sz="2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3" name="CustomShape 2"/>
          <p:cNvSpPr/>
          <p:nvPr/>
        </p:nvSpPr>
        <p:spPr>
          <a:xfrm>
            <a:off x="1523880" y="3602160"/>
            <a:ext cx="9141840" cy="1653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Universitatea din Bucuresti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Departamentul de Informatica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Instrumente si tehnici de baza in informatica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2025-2026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CustomShape 1"/>
          <p:cNvSpPr/>
          <p:nvPr/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  <a:ea typeface="DejaVu Sans"/>
              </a:rPr>
              <a:t>Outline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5" name="CustomShape 2"/>
          <p:cNvSpPr/>
          <p:nvPr/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4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Contextul emulării comportamentului recursiv al </a:t>
            </a:r>
            <a:r>
              <a:rPr lang="ro-RO" sz="24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wget</a:t>
            </a:r>
            <a:endParaRPr lang="ro-RO" sz="2400" strike="noStrike" spc="-1" dirty="0" smtClean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400" b="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Obiectivele proiectului și cerințele funcționale ale scriptului </a:t>
            </a:r>
            <a:r>
              <a:rPr lang="ro-RO" sz="24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lwget.sh</a:t>
            </a:r>
            <a:endParaRPr lang="ro-RO" sz="2400" spc="-1" dirty="0" smtClean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4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Arhitectura bazată pe stări și algoritmul de parcurgere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4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Detalii despre scriptul Bash, tool-uri utilizate si gestionarea URL-urilor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4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Scenarii de testare, verificare cu </a:t>
            </a:r>
            <a:r>
              <a:rPr lang="ro-RO" sz="24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tree </a:t>
            </a:r>
            <a:r>
              <a:rPr lang="ro-RO" sz="24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și analiza comportamentului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4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Observații finale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CustomShape 1"/>
          <p:cNvSpPr/>
          <p:nvPr/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  <a:ea typeface="DejaVu Sans"/>
              </a:rPr>
              <a:t>Descrierea problemei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7" name="CustomShape 2"/>
          <p:cNvSpPr/>
          <p:nvPr/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DejaVu Sans"/>
              </a:rPr>
              <a:t>Context general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Problema se incadrează în zona de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hlinkClick r:id="rId2"/>
              </a:rPr>
              <a:t>Web Crawling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și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hlinkClick r:id="rId3"/>
              </a:rPr>
              <a:t>Scripting în Linux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Implică automatizarea descărcării de resurse web și parcurgerea structurilor arborescente de documente.</a:t>
            </a:r>
            <a:endParaRPr lang="ro-RO" sz="1600" spc="-1" dirty="0" smtClean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Datele particulare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 dorește o abordare „leneșă”. Scriptul nu trebuie să descarce automat totul, ci doar nivelul curent și să pregăteasca lista de resurse pentru următoarea execuție.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Necesitatea soluției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Înțelegerea mecanismelor de parsing HTML și extragerea de link-uri.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Gestionarea stării unei aplicații între execuții multiple (persistența cozii de procesare pe disc)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Soluția aleasă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Un script Shell care utilizează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wget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în mod nerecursiv și gestionează manual coada de URL-uri</a:t>
            </a:r>
            <a:endParaRPr lang="ro-RO" sz="1600" strike="noStrike" spc="-1" dirty="0" smtClean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CustomShape 1"/>
          <p:cNvSpPr/>
          <p:nvPr/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  <a:ea typeface="DejaVu Sans"/>
              </a:rPr>
              <a:t>Specificatia solutiei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9" name="CustomShape 2"/>
          <p:cNvSpPr/>
          <p:nvPr/>
        </p:nvSpPr>
        <p:spPr>
          <a:xfrm>
            <a:off x="838080" y="1604880"/>
            <a:ext cx="10992960" cy="4854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Obiective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Crearea unui script care emulează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wget –r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prin apeluri repetate.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Fiecare apel trebuie să rezolve promisiunile (URL-urile) acumulate în pasul anterior.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Caracteristicile prototipului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Input: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Un URL rădăcină (la prima rulare) sau procesarea fișierului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promises.txt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(la rulările ulterioare).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Output: 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O structură de directoare locală care mimează structura site-ului țintă.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b="1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Cerințe funcționale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Să descarce fișiere HTML.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Să parseze conținutul pentru a găsi tag-uri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href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și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src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Să filtreze link-urile externe (să rămână pe domeniul țintă).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Să evite ciclurile (să nu descarce aceeași pagină de două ori).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Mediu de rulare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Sistem de operare: Ubuntu 24.04 LTS (Bash shell)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Dependențe: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wget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grep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sed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cut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basename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sort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Constrângeri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Interzisă folosirea flag-ului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–r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al comenzii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wget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CustomShape 1"/>
          <p:cNvSpPr/>
          <p:nvPr/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  <a:ea typeface="DejaVu Sans"/>
              </a:rPr>
              <a:t>Design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1" name="CustomShape 2"/>
          <p:cNvSpPr/>
          <p:nvPr/>
        </p:nvSpPr>
        <p:spPr>
          <a:xfrm>
            <a:off x="838080" y="1604880"/>
            <a:ext cx="10992960" cy="48546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Arhitectura Software: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Modelul este inspirat de 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Breadth-First Search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 dar iterativ, cu starea cozii salvată pe disc.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Componente principale: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Downloader: wget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pentru obținerea fișierului.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Parser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: Extrage link-urile din HTML-ul descărcat.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Scheduler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: Gestionează fișierele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promises.txt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(coada curentă) și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visited.txt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(istoric).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endParaRPr lang="ro-RO" sz="1600" b="1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5060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Algoritmul</a:t>
            </a:r>
          </a:p>
          <a:p>
            <a:pPr marL="802260" lvl="1" indent="-342900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Verificare promisiuni: Dacă există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promises.txt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 acestea devin sarcina curentă. Dacă nu, URL-ul inițial este prima sarcină.</a:t>
            </a:r>
          </a:p>
          <a:p>
            <a:pPr marL="802260" lvl="1" indent="-342900">
              <a:lnSpc>
                <a:spcPct val="90000"/>
              </a:lnSpc>
              <a:buClr>
                <a:srgbClr val="000000"/>
              </a:buClr>
              <a:buFont typeface="+mj-lt"/>
              <a:buAutoNum type="arabicPeriod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Procesare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Verifică dacă a fost vizitat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Descarcă pagina local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Dacă este HTML, scanează pentru link-uri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Normalizează link-urile</a:t>
            </a:r>
          </a:p>
          <a:p>
            <a:pPr marL="1259460" lvl="2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Adaugă link-urile în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promises.txt</a:t>
            </a:r>
          </a:p>
          <a:p>
            <a:pPr marL="345060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endParaRPr lang="ro-RO" sz="1600" b="1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345060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 ce acest design?</a:t>
            </a:r>
          </a:p>
          <a:p>
            <a:pPr marL="802260" lvl="1" indent="-342900">
              <a:lnSpc>
                <a:spcPct val="90000"/>
              </a:lnSpc>
              <a:buClr>
                <a:srgbClr val="000000"/>
              </a:buClr>
              <a:buFont typeface="Arial" panose="020B0604020202020204" pitchFamily="34" charset="0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Stocarea cozii în fișiere text permite oprirea și reluarea procesului, spre deosebire de o coadă </a:t>
            </a:r>
            <a:r>
              <a:rPr lang="ro-RO" sz="1600" spc="-1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în memoria RAM care s-ar pierde la terminarea scriptului.</a:t>
            </a:r>
            <a:endParaRPr lang="ro-RO" sz="16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CustomShape 1"/>
          <p:cNvSpPr/>
          <p:nvPr/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  <a:ea typeface="DejaVu Sans"/>
              </a:rPr>
              <a:t>Implementare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3" name="CustomShape 2"/>
          <p:cNvSpPr/>
          <p:nvPr/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000" b="0" strike="noStrike" spc="-1" dirty="0" err="1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Limbaj</a:t>
            </a: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și Unelte</a:t>
            </a:r>
            <a:endParaRPr lang="ro-RO" sz="2000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Bash Scripting: Pentru logica de control (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if</a:t>
            </a: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, 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while</a:t>
            </a: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)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Parsare: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grep –ohiE ‘(href|src)=„[^”]”’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pentru a izola atributele de link.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Curățare date: 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cut –d’”’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și 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sed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pentru a elimina 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</a:t>
            </a:r>
            <a:r>
              <a:rPr lang="en-US" sz="1600" strike="noStrike" spc="-1" dirty="0" err="1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hilimelele</a:t>
            </a:r>
            <a:r>
              <a:rPr lang="en-US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și a obține URL-ul curat.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Deduplicare: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sort –u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pentru a asigura că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promises.txt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nu conține duplicate.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b="0" strike="noStrike" spc="-1" dirty="0" smtClean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Probleme tehnice și soluțiiL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Normalizarea URL-urilor: Scriptul detectează dacă calea este relativă sau absolută și alege URL-ul corect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Gestionarea Redirect-urilor: S-a optat pentru prefixarea cu 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http://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 Daca serverul cere HTTPS, 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wget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va primi un cod 301 și va redirecționa automat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Prevenirea buclelor infinite: Utilizarea fișierului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visited.txt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și verificarea cu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grep –Fqx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înainte de a procesa orice URL.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Limitări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Parsarea HTML cu Regex poate rata link-uri generate dinamic de JavaScript.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Scriptul presupune că structura URL-urilor este standard.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CustomShape 1"/>
          <p:cNvSpPr/>
          <p:nvPr/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  <a:ea typeface="DejaVu Sans"/>
              </a:rPr>
              <a:t>Experimente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5" name="CustomShape 2"/>
          <p:cNvSpPr/>
          <p:nvPr/>
        </p:nvSpPr>
        <p:spPr>
          <a:xfrm>
            <a:off x="838080" y="1384560"/>
            <a:ext cx="10513440" cy="4909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Arhitectura de testare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Mașina locală: Ubuntu 24.04 on Intel x86_64 processor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Țintă: Un site static simplu (ex: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  <a:hlinkClick r:id="rId2"/>
              </a:rPr>
              <a:t>http://fmi.unibuc.ro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)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1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Scenariu de tesatare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Pasul 1: Rulare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./lwget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  <a:hlinkClick r:id="rId3"/>
              </a:rPr>
              <a:t>http://site.com</a:t>
            </a:r>
            <a:endParaRPr lang="ro-RO" sz="1600" b="1" spc="-1" dirty="0" smtClean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1143000" lvl="2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i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Rezultat:</a:t>
            </a:r>
            <a:r>
              <a:rPr lang="ro-RO" sz="1600" b="1" i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Se descarcă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index.html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 Se creează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promises.txt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cu link-urile din meniu.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Pasul 2: Rulare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./lwget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(fără argumente).</a:t>
            </a:r>
          </a:p>
          <a:p>
            <a:pPr marL="1143000" lvl="2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i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Rezultat: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Scriptul citește promisiunile, descarcă paginile de nivel 1. Fișierul </a:t>
            </a:r>
            <a:r>
              <a:rPr lang="ro-RO" sz="1600" b="1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promises.txt </a:t>
            </a:r>
            <a:r>
              <a:rPr lang="ro-RO" sz="160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este actualizat cu link-urile de nivel 2.</a:t>
            </a:r>
          </a:p>
          <a:p>
            <a:pPr marL="685800" lvl="1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Verificare </a:t>
            </a:r>
            <a:r>
              <a:rPr lang="ro-RO" sz="1600" b="1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tree </a:t>
            </a:r>
            <a:r>
              <a:rPr lang="ro-RO" sz="16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în directorul descărcat pentru a vizualiza ierarhia.</a:t>
            </a:r>
            <a:endParaRPr lang="en-US" sz="160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CustomShape 1"/>
          <p:cNvSpPr/>
          <p:nvPr/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/>
          <a:lstStyle/>
          <a:p>
            <a:pPr>
              <a:lnSpc>
                <a:spcPct val="9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 Light"/>
                <a:ea typeface="DejaVu Sans"/>
              </a:rPr>
              <a:t>Concluzii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b="0" strike="noStrike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S-a demonstrat că recursivitatea poate fi simulată iterativ folosind sistemul de fișiere pentru stocarea stării (coadă de așteptare).</a:t>
            </a: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endParaRPr lang="ro-RO" sz="2000" b="0" strike="noStrike" spc="-1" dirty="0" smtClean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pPr marL="228600" indent="-226440">
              <a:lnSpc>
                <a:spcPct val="90000"/>
              </a:lnSpc>
              <a:buClr>
                <a:srgbClr val="000000"/>
              </a:buClr>
              <a:buFont typeface="Arial"/>
              <a:buChar char="•"/>
            </a:pPr>
            <a:r>
              <a:rPr lang="ro-RO" sz="2000" spc="-1" dirty="0" smtClean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Procesarea textului (parsing) în Bash este posibilă, dar devine complexă când datele de intrare (HTML) nu sunt strict formatate.</a:t>
            </a:r>
          </a:p>
          <a:p>
            <a:pPr marL="2160">
              <a:lnSpc>
                <a:spcPct val="90000"/>
              </a:lnSpc>
              <a:buClr>
                <a:srgbClr val="000000"/>
              </a:buClr>
            </a:pPr>
            <a:endParaRPr lang="en-US" sz="1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c9c8bf9-0949-40aa-b44c-7e98f82af279" xsi:nil="true"/>
    <lcf76f155ced4ddcb4097134ff3c332f xmlns="3fdd4eb4-493c-48cf-bddf-25f1a88be6fa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16B40607B74BC429BA29107EE76F9BC" ma:contentTypeVersion="10" ma:contentTypeDescription="Create a new document." ma:contentTypeScope="" ma:versionID="98b253cf885240279d5b48d80b9c5cae">
  <xsd:schema xmlns:xsd="http://www.w3.org/2001/XMLSchema" xmlns:xs="http://www.w3.org/2001/XMLSchema" xmlns:p="http://schemas.microsoft.com/office/2006/metadata/properties" xmlns:ns2="3fdd4eb4-493c-48cf-bddf-25f1a88be6fa" xmlns:ns3="5c9c8bf9-0949-40aa-b44c-7e98f82af279" targetNamespace="http://schemas.microsoft.com/office/2006/metadata/properties" ma:root="true" ma:fieldsID="2aec3460771e3131f6ae20c07797a576" ns2:_="" ns3:_="">
    <xsd:import namespace="3fdd4eb4-493c-48cf-bddf-25f1a88be6fa"/>
    <xsd:import namespace="5c9c8bf9-0949-40aa-b44c-7e98f82af27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fdd4eb4-493c-48cf-bddf-25f1a88be6f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f5cd9f51-4d1e-4d57-bf3d-f118fc5c809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c9c8bf9-0949-40aa-b44c-7e98f82af27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d44ef86-d410-4aab-9776-f81bc4fb9d14}" ma:internalName="TaxCatchAll" ma:showField="CatchAllData" ma:web="5c9c8bf9-0949-40aa-b44c-7e98f82af27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789158E-B27D-4A14-8D7F-900788E03765}">
  <ds:schemaRefs>
    <ds:schemaRef ds:uri="http://schemas.microsoft.com/office/2006/metadata/properties"/>
    <ds:schemaRef ds:uri="http://schemas.microsoft.com/office/infopath/2007/PartnerControls"/>
    <ds:schemaRef ds:uri="5c9c8bf9-0949-40aa-b44c-7e98f82af279"/>
    <ds:schemaRef ds:uri="3fdd4eb4-493c-48cf-bddf-25f1a88be6fa"/>
  </ds:schemaRefs>
</ds:datastoreItem>
</file>

<file path=customXml/itemProps2.xml><?xml version="1.0" encoding="utf-8"?>
<ds:datastoreItem xmlns:ds="http://schemas.openxmlformats.org/officeDocument/2006/customXml" ds:itemID="{1D1E13A5-8F63-48B3-92D6-018A83981B2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D7B055-F4D1-4268-9D4E-C7193618389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fdd4eb4-493c-48cf-bddf-25f1a88be6fa"/>
    <ds:schemaRef ds:uri="5c9c8bf9-0949-40aa-b44c-7e98f82af27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1510</TotalTime>
  <Words>730</Words>
  <Application>Microsoft Office PowerPoint</Application>
  <PresentationFormat>Widescreen</PresentationFormat>
  <Paragraphs>98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Arial</vt:lpstr>
      <vt:lpstr>Calibri</vt:lpstr>
      <vt:lpstr>Calibri Light</vt:lpstr>
      <vt:lpstr>DejaVu Sans</vt:lpstr>
      <vt:lpstr>Symbol</vt:lpstr>
      <vt:lpstr>Wingdings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Algoritmi Paraleli</dc:title>
  <dc:subject/>
  <dc:creator>Andrei Patrascu</dc:creator>
  <dc:description/>
  <cp:lastModifiedBy>Laurian</cp:lastModifiedBy>
  <cp:revision>436</cp:revision>
  <dcterms:created xsi:type="dcterms:W3CDTF">2021-03-01T13:17:33Z</dcterms:created>
  <dcterms:modified xsi:type="dcterms:W3CDTF">2025-12-10T14:20:49Z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ContentTypeId">
    <vt:lpwstr>0x010100416B40607B74BC429BA29107EE76F9BC</vt:lpwstr>
  </property>
  <property fmtid="{D5CDD505-2E9C-101B-9397-08002B2CF9AE}" pid="4" name="HiddenSlides">
    <vt:i4>0</vt:i4>
  </property>
  <property fmtid="{D5CDD505-2E9C-101B-9397-08002B2CF9AE}" pid="5" name="HyperlinksChanged">
    <vt:bool>false</vt:bool>
  </property>
  <property fmtid="{D5CDD505-2E9C-101B-9397-08002B2CF9AE}" pid="6" name="LinksUpToDate">
    <vt:bool>false</vt:bool>
  </property>
  <property fmtid="{D5CDD505-2E9C-101B-9397-08002B2CF9AE}" pid="7" name="MMClips">
    <vt:i4>0</vt:i4>
  </property>
  <property fmtid="{D5CDD505-2E9C-101B-9397-08002B2CF9AE}" pid="8" name="Notes">
    <vt:i4>0</vt:i4>
  </property>
  <property fmtid="{D5CDD505-2E9C-101B-9397-08002B2CF9AE}" pid="9" name="PresentationFormat">
    <vt:lpwstr>Widescreen</vt:lpwstr>
  </property>
  <property fmtid="{D5CDD505-2E9C-101B-9397-08002B2CF9AE}" pid="10" name="ScaleCrop">
    <vt:bool>false</vt:bool>
  </property>
  <property fmtid="{D5CDD505-2E9C-101B-9397-08002B2CF9AE}" pid="11" name="ShareDoc">
    <vt:bool>false</vt:bool>
  </property>
  <property fmtid="{D5CDD505-2E9C-101B-9397-08002B2CF9AE}" pid="12" name="Slides">
    <vt:i4>8</vt:i4>
  </property>
</Properties>
</file>