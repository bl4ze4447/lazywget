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1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4AD07E-F227-AB3B-30E2-72742BEF71CF}" v="8" dt="2025-12-18T14:16:54.303"/>
    <p1510:client id="{E0216581-A125-05EC-D41D-8E8675510036}" v="17" dt="2025-12-18T14:17:27.6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120" d="100"/>
          <a:sy n="120" d="100"/>
        </p:scale>
        <p:origin x="2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4" name="Picture 33"/>
          <p:cNvPicPr/>
          <p:nvPr/>
        </p:nvPicPr>
        <p:blipFill>
          <a:blip r:embed="rId2"/>
          <a:stretch/>
        </p:blipFill>
        <p:spPr>
          <a:xfrm>
            <a:off x="360288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35" name="Picture 34"/>
          <p:cNvPicPr/>
          <p:nvPr/>
        </p:nvPicPr>
        <p:blipFill>
          <a:blip r:embed="rId2"/>
          <a:stretch/>
        </p:blipFill>
        <p:spPr>
          <a:xfrm>
            <a:off x="360288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0" name="Picture 69"/>
          <p:cNvPicPr/>
          <p:nvPr/>
        </p:nvPicPr>
        <p:blipFill>
          <a:blip r:embed="rId2"/>
          <a:stretch/>
        </p:blipFill>
        <p:spPr>
          <a:xfrm>
            <a:off x="360288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71" name="Picture 70"/>
          <p:cNvPicPr/>
          <p:nvPr/>
        </p:nvPicPr>
        <p:blipFill>
          <a:blip r:embed="rId2"/>
          <a:stretch/>
        </p:blipFill>
        <p:spPr>
          <a:xfrm>
            <a:off x="360288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title text format</a:t>
            </a: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codecamp.org/news/bash-scripting-tutorial-linux-shell-script-and-command-line-for-beginners/" TargetMode="External"/><Relationship Id="rId2" Type="http://schemas.openxmlformats.org/officeDocument/2006/relationships/hyperlink" Target="https://en.wikipedia.org/wiki/Web_crawler" TargetMode="Externa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NULL" TargetMode="External"/><Relationship Id="rId2" Type="http://schemas.openxmlformats.org/officeDocument/2006/relationships/hyperlink" Target="https://fmi.unibuc.ro/" TargetMode="External"/><Relationship Id="rId1" Type="http://schemas.openxmlformats.org/officeDocument/2006/relationships/slideLayout" Target="../slideLayouts/slideLayout13.xml"/><Relationship Id="rId5" Type="http://schemas.openxmlformats.org/officeDocument/2006/relationships/hyperlink" Target="NULL" TargetMode="External"/><Relationship Id="rId4" Type="http://schemas.openxmlformats.org/officeDocument/2006/relationships/hyperlink" Target="http://fmi.unibuc.ro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ustomShape 1"/>
          <p:cNvSpPr/>
          <p:nvPr/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ctr">
              <a:lnSpc>
                <a:spcPct val="100000"/>
              </a:lnSpc>
            </a:pPr>
            <a:r>
              <a:rPr lang="ro-RO" sz="6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LazyWGET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o-RO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Laurian Iacob</a:t>
            </a:r>
          </a:p>
          <a:p>
            <a:pPr algn="ctr">
              <a:lnSpc>
                <a:spcPct val="100000"/>
              </a:lnSpc>
            </a:pPr>
            <a:r>
              <a:rPr lang="ro-RO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Antonie-Gabriel Belu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3" name="CustomShape 2"/>
          <p:cNvSpPr/>
          <p:nvPr/>
        </p:nvSpPr>
        <p:spPr>
          <a:xfrm>
            <a:off x="1523880" y="3602160"/>
            <a:ext cx="9141840" cy="165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Universitatea</a:t>
            </a: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din </a:t>
            </a:r>
            <a:r>
              <a:rPr lang="en-US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Bucuresti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Departamentul</a:t>
            </a: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de Informatica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Instrumente</a:t>
            </a: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si</a:t>
            </a: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tehnici</a:t>
            </a: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de </a:t>
            </a:r>
            <a:r>
              <a:rPr lang="en-US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baza</a:t>
            </a: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in informatica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2025-2026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CustomShape 1"/>
          <p:cNvSpPr/>
          <p:nvPr/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  <a:ea typeface="DejaVu Sans"/>
              </a:rPr>
              <a:t>Outline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5" name="CustomShape 2"/>
          <p:cNvSpPr/>
          <p:nvPr/>
        </p:nvSpPr>
        <p:spPr>
          <a:xfrm>
            <a:off x="838080" y="1825560"/>
            <a:ext cx="10513440" cy="434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Contextul emulării comportamentului recursiv al </a:t>
            </a:r>
            <a:r>
              <a:rPr lang="ro-RO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wget</a:t>
            </a:r>
            <a:endParaRPr lang="ro-RO" sz="24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400" b="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Obiectivele proiectului și cerințele funcționale ale scriptului </a:t>
            </a:r>
            <a:r>
              <a:rPr lang="ro-RO" sz="2400" b="1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lget.sh</a:t>
            </a:r>
            <a:endParaRPr lang="ro-RO" sz="24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Arhitectura bazată pe stări și algoritmul de parcurgere</a:t>
            </a: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Detalii despre scriptul Bash, tool-uri utilizate și gestionarea URL-urilor</a:t>
            </a: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Scenarii de testare, verificare cu </a:t>
            </a:r>
            <a:r>
              <a:rPr lang="ro-RO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tree </a:t>
            </a:r>
            <a:r>
              <a:rPr lang="ro-RO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și analiza comportamentului</a:t>
            </a: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Observații finale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  <a:ea typeface="DejaVu Sans"/>
              </a:rPr>
              <a:t>Descrierea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  <a:ea typeface="DejaVu Sans"/>
              </a:rPr>
              <a:t> 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  <a:ea typeface="DejaVu Sans"/>
              </a:rPr>
              <a:t>problemei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838080" y="1825560"/>
            <a:ext cx="10513440" cy="434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Context general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Problema se incadrează în zona de 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Web Crawling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și 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Scripting în Linux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Implică automatizarea descărcării de resurse web și parcurgerea structurilor arborescente de documente.</a:t>
            </a:r>
            <a:endParaRPr lang="ro-RO" sz="16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endParaRPr lang="ro-RO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Datele particulare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Se dorește o abordare „leneșă”. Scriptul nu trebuie să descarce automat totul, ci doar nivelul curent și să pregăteasca lista de resurse pentru următoarea execuție.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endParaRPr lang="ro-RO" sz="1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Necesitatea soluției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Înțelegerea mecanismelor de parsing HTML și extragerea de link-uri.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Gestionarea stării unei aplicații între execuții multiple (persistența cozii de procesare pe disc).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Descărcarea directă a resurselor web.</a:t>
            </a:r>
            <a:endParaRPr lang="ro-RO" sz="1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endParaRPr lang="ro-RO" sz="16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Soluția aleasă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Un script Shell care utilizează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wget 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în mod nerecursiv și gestionează manual coada de URL-uri.</a:t>
            </a:r>
            <a:endParaRPr lang="ro-RO" sz="16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  <a:ea typeface="DejaVu Sans"/>
              </a:rPr>
              <a:t>Specificația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  <a:ea typeface="DejaVu Sans"/>
              </a:rPr>
              <a:t> 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  <a:ea typeface="DejaVu Sans"/>
              </a:rPr>
              <a:t>soluției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9" name="CustomShape 2"/>
          <p:cNvSpPr/>
          <p:nvPr/>
        </p:nvSpPr>
        <p:spPr>
          <a:xfrm>
            <a:off x="838080" y="1604880"/>
            <a:ext cx="10992960" cy="4854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Obiective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Crearea unui script care emulează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wget –r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prin apeluri repetate.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Fiecare apel trebuie să rezolve promisiunile (URL-urile) acumulate în pasul anterior.</a:t>
            </a: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endParaRPr lang="ro-RO" sz="16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Caracteristicile prototipului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Input: 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Un URL rădăcină (la prima rulare) sau procesarea fișierului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promises.txt 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(la rulările ulterioare).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Output: </a:t>
            </a:r>
            <a:r>
              <a:rPr lang="ro-RO" sz="16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O structură de directoare locală care mimează structura site-ului țintă.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endParaRPr lang="ro-RO" sz="1600" b="1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Cerințe funcționale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Să descarce fișiere HTML.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Să parseze conținutul pentru a găsi tag-uri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href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și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src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Să filtreze link-urile externe (să rămână pe domeniul țintă).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Să evite ciclurile (să nu descarce aceeași pagină de două ori).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endParaRPr lang="ro-RO" sz="16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Mediu de rulare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Sistem de operare: Ubuntu 24.04 LTS (Bash shell)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Dependențe: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wget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grep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sed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cut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basename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sort, xargs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endParaRPr lang="ro-RO" sz="16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Constrângeri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Interzisă folosirea flag-ului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–r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al comenzii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wget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  <a:ea typeface="DejaVu Sans"/>
              </a:rPr>
              <a:t>Design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1" name="CustomShape 2"/>
          <p:cNvSpPr/>
          <p:nvPr/>
        </p:nvSpPr>
        <p:spPr>
          <a:xfrm>
            <a:off x="838080" y="1604880"/>
            <a:ext cx="10992960" cy="4854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Arhitectura Software: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Modelul este inspirat de </a:t>
            </a:r>
            <a:r>
              <a:rPr lang="ro-RO" sz="16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Breadth-First Search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, dar iterativ, cu starea cozii salvată pe disc.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Componente principale:</a:t>
            </a:r>
          </a:p>
          <a:p>
            <a:pPr marL="1259460" lvl="2" indent="-342900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Downloader: wget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pentru obținerea fișierului.</a:t>
            </a:r>
          </a:p>
          <a:p>
            <a:pPr marL="1259460" lvl="2" indent="-342900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Parser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 Extrage link-urile din HTML-ul descărcat.</a:t>
            </a:r>
          </a:p>
          <a:p>
            <a:pPr marL="1259460" lvl="2" indent="-342900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Scheduler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 Gestionează fișierele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promises.txt 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(coada curentă), </a:t>
            </a:r>
            <a:r>
              <a:rPr lang="ro-RO" sz="1600" b="1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visited.txt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(istoric).</a:t>
            </a:r>
          </a:p>
          <a:p>
            <a:pPr marL="1259460" lvl="2" indent="-342900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endParaRPr lang="ro-RO" sz="1600" b="1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5060" indent="-342900">
              <a:lnSpc>
                <a:spcPct val="9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ro-RO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Algoritmul</a:t>
            </a:r>
          </a:p>
          <a:p>
            <a:pPr marL="802260" lvl="1" indent="-342900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Verificare promisiuni: Dacă există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promises.txt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, acestea devin sarcina curentă. Dacă nu, URL-ul inițial este prima sarcină.</a:t>
            </a:r>
          </a:p>
          <a:p>
            <a:pPr marL="802260" lvl="1" indent="-342900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Procesare</a:t>
            </a:r>
          </a:p>
          <a:p>
            <a:pPr marL="1259460" lvl="2" indent="-342900">
              <a:lnSpc>
                <a:spcPct val="9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Verifică dacă a fost vizitat</a:t>
            </a:r>
          </a:p>
          <a:p>
            <a:pPr marL="1259460" lvl="2" indent="-342900">
              <a:lnSpc>
                <a:spcPct val="9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Descarcă pagina local</a:t>
            </a:r>
          </a:p>
          <a:p>
            <a:pPr marL="1259460" lvl="2" indent="-342900">
              <a:lnSpc>
                <a:spcPct val="9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Dacă este HTML, scanează pentru link-uri</a:t>
            </a:r>
          </a:p>
          <a:p>
            <a:pPr marL="1259460" lvl="2" indent="-342900">
              <a:lnSpc>
                <a:spcPct val="9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Normalizează link-urile</a:t>
            </a:r>
          </a:p>
          <a:p>
            <a:pPr marL="1259460" lvl="2" indent="-342900">
              <a:lnSpc>
                <a:spcPct val="9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Adaugă link-urile în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promises.txt</a:t>
            </a:r>
          </a:p>
          <a:p>
            <a:pPr marL="345060" indent="-342900">
              <a:lnSpc>
                <a:spcPct val="9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ro-RO" sz="1600" b="1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5060" indent="-342900">
              <a:lnSpc>
                <a:spcPct val="9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ro-RO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 ce acest design?</a:t>
            </a:r>
          </a:p>
          <a:p>
            <a:pPr marL="802260" lvl="1" indent="-342900">
              <a:lnSpc>
                <a:spcPct val="9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Stocarea cozii în fișiere text permite oprirea și reluarea procesului, spre deosebire de o coadă în memoria RAM care s-ar pierde la terminarea scriptului.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  <a:ea typeface="DejaVu Sans"/>
              </a:rPr>
              <a:t>Implementare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838080" y="1825560"/>
            <a:ext cx="10513440" cy="434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Limbaj</a:t>
            </a:r>
            <a:r>
              <a:rPr lang="ro-RO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și Unelte</a:t>
            </a:r>
            <a:endParaRPr lang="ro-RO" sz="20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Bash Scripting: Pentru logica de control (</a:t>
            </a:r>
            <a:r>
              <a:rPr lang="ro-RO" sz="16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if</a:t>
            </a:r>
            <a:r>
              <a:rPr lang="ro-RO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, </a:t>
            </a:r>
            <a:r>
              <a:rPr lang="ro-RO" sz="16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while</a:t>
            </a:r>
            <a:r>
              <a:rPr lang="ro-RO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)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Parsare: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grep –ohiE ‘(href|src)=„[^”]”’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pentru a izola atributele de link.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Curățare date: </a:t>
            </a:r>
            <a:r>
              <a:rPr lang="ro-RO" sz="16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cut –d’”’</a:t>
            </a:r>
            <a:r>
              <a:rPr lang="ro-RO" sz="16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și </a:t>
            </a:r>
            <a:r>
              <a:rPr lang="ro-RO" sz="16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sed</a:t>
            </a:r>
            <a:r>
              <a:rPr lang="ro-RO" sz="16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pentru a elimina g</a:t>
            </a:r>
            <a:r>
              <a:rPr lang="en-US" sz="16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hilimelele</a:t>
            </a:r>
            <a:r>
              <a:rPr lang="en-US" sz="16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ro-RO" sz="16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și a obține URL-ul curat.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b="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Deduplicare: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sort –u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pentru a asigura că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promises.txt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nu conține duplicate.</a:t>
            </a: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endParaRPr lang="ro-RO" sz="1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Probleme tehnice și soluțiile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Normalizarea URL-urilor: Scriptul detectează dacă calea este relativă sau absolută și alege URL-ul corect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Gestionarea Redirect-urilor: S-a optat pentru prefixarea 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linkurilor </a:t>
            </a:r>
            <a:r>
              <a:rPr lang="ro-RO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 </a:t>
            </a:r>
            <a:r>
              <a:rPr lang="ro-RO" sz="16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http://</a:t>
            </a:r>
            <a:r>
              <a:rPr lang="ro-RO" sz="16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 Dacă serverul cere HTTPS, </a:t>
            </a:r>
            <a:r>
              <a:rPr lang="ro-RO" sz="16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wget</a:t>
            </a:r>
            <a:r>
              <a:rPr lang="ro-RO" sz="16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va primi un cod 301 și va redirecționa automat către pagina corectă.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Prevenirea buclelor infinite: Utilizarea fișierului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visited.txt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și verificarea cu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grep –Fqx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înainte de a procesa orice URL.</a:t>
            </a: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endParaRPr lang="ro-RO" sz="16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0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Limitări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Parsarea HTML cu Regex poate rata link-uri generate dinamic de JavaScript.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Scriptul presupune că structura URL-urilor este standard.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  <a:ea typeface="DejaVu Sans"/>
              </a:rPr>
              <a:t>Experimente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5" name="CustomShape 2"/>
          <p:cNvSpPr/>
          <p:nvPr/>
        </p:nvSpPr>
        <p:spPr>
          <a:xfrm>
            <a:off x="838080" y="1384560"/>
            <a:ext cx="10513440" cy="4909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Arhitectura de testare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Mașina locală: Ubuntu 24.04 on Intel x86_64 processor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Țintă: Un site static simplu (ex: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hlinkClick r:id="rId2"/>
              </a:rPr>
              <a:t>https://fmi.unibuc.ro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)</a:t>
            </a: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endParaRPr lang="ro-RO" sz="1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Scenariu de </a:t>
            </a:r>
            <a:r>
              <a:rPr lang="ro-RO" sz="20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tesatare</a:t>
            </a:r>
            <a:r>
              <a:rPr lang="ro-RO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1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Pasul 1: Rulare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./</a:t>
            </a:r>
            <a:r>
              <a:rPr lang="ro-RO" sz="1600" b="1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lget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hlinkClick r:id="rId3" invalidUrl="https:///"/>
              </a:rPr>
              <a:t>https://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hlinkClick r:id="rId4"/>
              </a:rPr>
              <a:t>fmi.unibuc.ro</a:t>
            </a:r>
            <a:endParaRPr lang="ro-RO" sz="1600" b="1" spc="-1" dirty="0">
              <a:solidFill>
                <a:srgbClr val="0432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143000" lvl="2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i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Rezultat:</a:t>
            </a:r>
            <a:r>
              <a:rPr lang="ro-RO" sz="1600" b="1" i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 descarcă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index.html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 Se creează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promises.txt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cu link-urile din meniu.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Pasul 2: Rulare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./</a:t>
            </a:r>
            <a:r>
              <a:rPr lang="ro-RO" sz="1600" b="1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lget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hlinkClick r:id="rId5" invalidUrl="https:///"/>
              </a:rPr>
              <a:t>https://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hlinkClick r:id="rId4"/>
              </a:rPr>
              <a:t>fmi.unibuc.ro</a:t>
            </a:r>
            <a:endParaRPr lang="ro-RO" sz="16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143000" lvl="2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i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Rezultat:</a:t>
            </a:r>
            <a:r>
              <a:rPr lang="ro-RO" sz="16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Scriptul citește promisiunile, descarcă paginile de nivel 1. Fișierul </a:t>
            </a:r>
            <a:r>
              <a:rPr lang="ro-RO" sz="16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promises.txt</a:t>
            </a:r>
            <a:r>
              <a:rPr lang="ro-RO" sz="16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ro-RO" sz="16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este actualizat cu link-urile de nivel 2.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Verificare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tree 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în directorul descărcat pentru a vizualiza ierarhia</a:t>
            </a:r>
          </a:p>
          <a:p>
            <a:pPr marL="459360" lvl="1">
              <a:lnSpc>
                <a:spcPct val="90000"/>
              </a:lnSpc>
              <a:buClr>
                <a:srgbClr val="000000"/>
              </a:buClr>
            </a:pPr>
            <a:endParaRPr lang="ro-RO" sz="16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Scenariu de </a:t>
            </a:r>
            <a:r>
              <a:rPr lang="ro-RO" sz="20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tesatare</a:t>
            </a:r>
            <a:r>
              <a:rPr lang="ro-RO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2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dirty="0" err="1"/>
              <a:t>Linkurile</a:t>
            </a:r>
            <a:r>
              <a:rPr lang="en-US" sz="1600" dirty="0"/>
              <a:t> relative </a:t>
            </a:r>
            <a:r>
              <a:rPr lang="en-US" sz="1600" dirty="0" err="1"/>
              <a:t>detectate</a:t>
            </a:r>
            <a:r>
              <a:rPr lang="en-US" sz="1600" dirty="0"/>
              <a:t> sunt </a:t>
            </a:r>
            <a:r>
              <a:rPr lang="en-US" sz="1600" dirty="0" err="1"/>
              <a:t>reconstruite</a:t>
            </a:r>
            <a:r>
              <a:rPr lang="en-US" sz="1600" dirty="0"/>
              <a:t> </a:t>
            </a:r>
            <a:r>
              <a:rPr lang="en-US" sz="1600" dirty="0" err="1"/>
              <a:t>prin</a:t>
            </a:r>
            <a:r>
              <a:rPr lang="en-US" sz="1600" dirty="0"/>
              <a:t> </a:t>
            </a:r>
            <a:r>
              <a:rPr lang="en-US" sz="1600" dirty="0" err="1"/>
              <a:t>atașarea</a:t>
            </a:r>
            <a:r>
              <a:rPr lang="en-US" sz="1600" dirty="0"/>
              <a:t> </a:t>
            </a:r>
            <a:r>
              <a:rPr lang="en-US" sz="1600" dirty="0" err="1"/>
              <a:t>prefixului</a:t>
            </a:r>
            <a:r>
              <a:rPr lang="en-US" sz="1600" dirty="0"/>
              <a:t> </a:t>
            </a:r>
            <a:r>
              <a:rPr lang="en-US" sz="1600" b="1" i="1" dirty="0"/>
              <a:t>http://</a:t>
            </a:r>
            <a:r>
              <a:rPr lang="en-US" sz="1600" dirty="0"/>
              <a:t>. </a:t>
            </a:r>
            <a:r>
              <a:rPr lang="en-US" sz="1600" dirty="0" err="1"/>
              <a:t>Dacă</a:t>
            </a:r>
            <a:r>
              <a:rPr lang="en-US" sz="1600" dirty="0"/>
              <a:t> </a:t>
            </a:r>
            <a:r>
              <a:rPr lang="en-US" sz="1600" dirty="0" err="1"/>
              <a:t>serverul</a:t>
            </a:r>
            <a:r>
              <a:rPr lang="en-US" sz="1600" dirty="0"/>
              <a:t> </a:t>
            </a:r>
            <a:r>
              <a:rPr lang="en-US" sz="1600" dirty="0" err="1"/>
              <a:t>impune</a:t>
            </a:r>
            <a:r>
              <a:rPr lang="en-US" sz="1600" dirty="0"/>
              <a:t> </a:t>
            </a:r>
            <a:r>
              <a:rPr lang="en-US" sz="1600" dirty="0" err="1"/>
              <a:t>conexiunea</a:t>
            </a:r>
            <a:r>
              <a:rPr lang="en-US" sz="1600" dirty="0"/>
              <a:t> </a:t>
            </a:r>
            <a:r>
              <a:rPr lang="en-US" sz="1600" dirty="0" err="1"/>
              <a:t>securizată</a:t>
            </a:r>
            <a:r>
              <a:rPr lang="en-US" sz="1600" dirty="0"/>
              <a:t>, </a:t>
            </a:r>
            <a:r>
              <a:rPr lang="en-US" sz="1600" b="1" dirty="0" err="1"/>
              <a:t>wget</a:t>
            </a:r>
            <a:r>
              <a:rPr lang="en-US" sz="1600" dirty="0"/>
              <a:t> </a:t>
            </a:r>
            <a:r>
              <a:rPr lang="en-US" sz="1600" dirty="0" err="1"/>
              <a:t>va</a:t>
            </a:r>
            <a:r>
              <a:rPr lang="en-US" sz="1600" dirty="0"/>
              <a:t> </a:t>
            </a:r>
            <a:r>
              <a:rPr lang="en-US" sz="1600" dirty="0" err="1"/>
              <a:t>gestiona</a:t>
            </a:r>
            <a:r>
              <a:rPr lang="en-US" sz="1600" dirty="0"/>
              <a:t> automat </a:t>
            </a:r>
            <a:r>
              <a:rPr lang="en-US" sz="1600" dirty="0" err="1"/>
              <a:t>redirecționarea</a:t>
            </a:r>
            <a:r>
              <a:rPr lang="en-US" sz="1600" dirty="0"/>
              <a:t> 301 </a:t>
            </a:r>
            <a:r>
              <a:rPr lang="en-US" sz="1600" dirty="0" err="1"/>
              <a:t>către</a:t>
            </a:r>
            <a:r>
              <a:rPr lang="en-US" sz="1600" dirty="0"/>
              <a:t> HTTPS. </a:t>
            </a:r>
            <a:r>
              <a:rPr lang="en-US" sz="1600" dirty="0" err="1"/>
              <a:t>Utilizarea</a:t>
            </a:r>
            <a:r>
              <a:rPr lang="en-US" sz="1600" dirty="0"/>
              <a:t> </a:t>
            </a:r>
            <a:r>
              <a:rPr lang="en-US" sz="1600" dirty="0" err="1"/>
              <a:t>directă</a:t>
            </a:r>
            <a:r>
              <a:rPr lang="en-US" sz="1600" dirty="0"/>
              <a:t> a </a:t>
            </a:r>
            <a:r>
              <a:rPr lang="en-US" sz="1600" dirty="0" err="1"/>
              <a:t>prefixului</a:t>
            </a:r>
            <a:r>
              <a:rPr lang="en-US" sz="1600" dirty="0"/>
              <a:t> </a:t>
            </a:r>
            <a:r>
              <a:rPr lang="en-US" sz="1600" b="1" i="1" dirty="0"/>
              <a:t>https://</a:t>
            </a:r>
            <a:r>
              <a:rPr lang="en-US" sz="1600" i="1" dirty="0"/>
              <a:t> </a:t>
            </a:r>
            <a:r>
              <a:rPr lang="en-US" sz="1600" dirty="0" err="1"/>
              <a:t>ar</a:t>
            </a:r>
            <a:r>
              <a:rPr lang="en-US" sz="1600" dirty="0"/>
              <a:t> fi </a:t>
            </a:r>
            <a:r>
              <a:rPr lang="en-US" sz="1600" dirty="0" err="1"/>
              <a:t>cauzat</a:t>
            </a:r>
            <a:r>
              <a:rPr lang="en-US" sz="1600" dirty="0"/>
              <a:t> </a:t>
            </a:r>
            <a:r>
              <a:rPr lang="en-US" sz="1600" dirty="0" err="1"/>
              <a:t>eșecul</a:t>
            </a:r>
            <a:r>
              <a:rPr lang="en-US" sz="1600" dirty="0"/>
              <a:t> </a:t>
            </a:r>
            <a:r>
              <a:rPr lang="en-US" sz="1600" dirty="0" err="1"/>
              <a:t>operațiunii</a:t>
            </a:r>
            <a:r>
              <a:rPr lang="en-US" sz="1600" dirty="0"/>
              <a:t>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Exemplu 1 (</a:t>
            </a:r>
            <a:r>
              <a:rPr lang="ro-RO" sz="1600" i="1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http</a:t>
            </a:r>
            <a:r>
              <a:rPr lang="ro-RO" sz="1600" i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://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): Rulare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./</a:t>
            </a:r>
            <a:r>
              <a:rPr lang="ro-RO" sz="1600" b="1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lget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ro-RO" sz="1600" b="1" spc="-1" dirty="0" err="1">
                <a:solidFill>
                  <a:srgbClr val="0432FF"/>
                </a:solidFill>
                <a:uFill>
                  <a:solidFill>
                    <a:srgbClr val="FFFFFF"/>
                  </a:solidFill>
                </a:uFill>
              </a:rPr>
              <a:t>httpforever.com</a:t>
            </a:r>
            <a:endParaRPr lang="ro-RO" sz="1600" b="1" spc="-1" dirty="0">
              <a:solidFill>
                <a:srgbClr val="0432FF"/>
              </a:solidFill>
              <a:uFill>
                <a:solidFill>
                  <a:srgbClr val="FFFFFF"/>
                </a:solidFill>
              </a:uFill>
            </a:endParaRPr>
          </a:p>
          <a:p>
            <a:pPr marL="1143000" lvl="2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i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Rezultat:</a:t>
            </a:r>
            <a:r>
              <a:rPr lang="ro-RO" sz="1600" b="1" i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Se descarcă </a:t>
            </a:r>
            <a:r>
              <a:rPr lang="ro-RO" sz="1600" b="1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index.html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. Se creează </a:t>
            </a:r>
            <a:r>
              <a:rPr lang="ro-RO" sz="1600" b="1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promises.txt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cu link-urile din meniu.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Exemplu 2 (</a:t>
            </a:r>
            <a:r>
              <a:rPr lang="ro-RO" sz="1600" i="1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https</a:t>
            </a:r>
            <a:r>
              <a:rPr lang="ro-RO" sz="1600" i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://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): Rulare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./</a:t>
            </a:r>
            <a:r>
              <a:rPr lang="ro-RO" sz="1600" b="1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lget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ro-RO" sz="1600" b="1" spc="-1" dirty="0" err="1">
                <a:solidFill>
                  <a:srgbClr val="0432FF"/>
                </a:solidFill>
                <a:uFill>
                  <a:solidFill>
                    <a:srgbClr val="FFFFFF"/>
                  </a:solidFill>
                </a:uFill>
              </a:rPr>
              <a:t>httpforever.com</a:t>
            </a:r>
            <a:endParaRPr lang="ro-RO" sz="1600" b="1" spc="-1" dirty="0">
              <a:solidFill>
                <a:srgbClr val="0432FF"/>
              </a:solidFill>
              <a:uFill>
                <a:solidFill>
                  <a:srgbClr val="FFFFFF"/>
                </a:solidFill>
              </a:uFill>
            </a:endParaRPr>
          </a:p>
          <a:p>
            <a:pPr marL="1143000" lvl="2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i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Rezultat:</a:t>
            </a:r>
            <a:r>
              <a:rPr lang="ro-RO" sz="1600" b="1" i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Scriptul eșuează.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endParaRPr lang="ro-RO" sz="16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endParaRPr lang="ro-RO" sz="20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pPr marL="459360" lvl="1">
              <a:lnSpc>
                <a:spcPct val="90000"/>
              </a:lnSpc>
              <a:buClr>
                <a:srgbClr val="000000"/>
              </a:buClr>
            </a:pPr>
            <a:endParaRPr lang="ro-RO" sz="16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9360" lvl="1">
              <a:lnSpc>
                <a:spcPct val="90000"/>
              </a:lnSpc>
              <a:buClr>
                <a:srgbClr val="000000"/>
              </a:buClr>
            </a:pPr>
            <a:endParaRPr lang="ro-RO" sz="16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  <a:ea typeface="DejaVu Sans"/>
              </a:rPr>
              <a:t>Concluzii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7" name="CustomShape 2"/>
          <p:cNvSpPr/>
          <p:nvPr/>
        </p:nvSpPr>
        <p:spPr>
          <a:xfrm>
            <a:off x="838080" y="1825560"/>
            <a:ext cx="10513440" cy="434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/>
          <a:lstStyle/>
          <a:p>
            <a:pPr marL="345440" indent="-3429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S-a </a:t>
            </a:r>
            <a:r>
              <a:rPr lang="ro-RO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demonstrat</a:t>
            </a:r>
            <a:r>
              <a:rPr lang="ro-RO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ro-RO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că</a:t>
            </a:r>
            <a:r>
              <a:rPr lang="ro-RO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ro-RO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recursivitatea</a:t>
            </a:r>
            <a:r>
              <a:rPr lang="ro-RO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ro-RO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poate</a:t>
            </a:r>
            <a:r>
              <a:rPr lang="ro-RO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fi </a:t>
            </a:r>
            <a:r>
              <a:rPr lang="ro-RO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simulată</a:t>
            </a:r>
            <a:r>
              <a:rPr lang="ro-RO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ro-RO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iterativ</a:t>
            </a:r>
            <a:r>
              <a:rPr lang="ro-RO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ro-RO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folosind</a:t>
            </a:r>
            <a:r>
              <a:rPr lang="ro-RO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ro-RO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sistemul</a:t>
            </a:r>
            <a:r>
              <a:rPr lang="ro-RO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ro-RO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fișiere</a:t>
            </a:r>
            <a:r>
              <a:rPr lang="ro-RO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ro-RO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pentru</a:t>
            </a:r>
            <a:r>
              <a:rPr lang="ro-RO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ro-RO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stocarea</a:t>
            </a:r>
            <a:r>
              <a:rPr lang="ro-RO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ro-RO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stării</a:t>
            </a:r>
            <a:r>
              <a:rPr lang="ro-RO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(</a:t>
            </a:r>
            <a:r>
              <a:rPr lang="ro-RO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coadă</a:t>
            </a:r>
            <a:r>
              <a:rPr lang="ro-RO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ro-RO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așteptare</a:t>
            </a:r>
            <a:r>
              <a:rPr lang="ro-RO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).</a:t>
            </a:r>
            <a:endParaRPr lang="en-US"/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endParaRPr lang="ro-RO" sz="20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5440" indent="-3429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000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Putem</a:t>
            </a:r>
            <a:r>
              <a:rPr lang="ro-RO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 </a:t>
            </a:r>
            <a:r>
              <a:rPr lang="ro-RO" sz="2000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eficientiza</a:t>
            </a:r>
            <a:r>
              <a:rPr lang="ro-RO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 </a:t>
            </a:r>
            <a:r>
              <a:rPr lang="ro-RO" sz="2000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scriptul</a:t>
            </a:r>
            <a:r>
              <a:rPr lang="ro-RO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 </a:t>
            </a:r>
            <a:r>
              <a:rPr lang="ro-RO" sz="2000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prin</a:t>
            </a:r>
            <a:r>
              <a:rPr lang="ro-RO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 </a:t>
            </a:r>
            <a:r>
              <a:rPr lang="ro-RO" sz="2000" b="1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paralelizarea</a:t>
            </a:r>
            <a:r>
              <a:rPr lang="ro-RO" sz="20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 </a:t>
            </a:r>
            <a:r>
              <a:rPr lang="ro-RO" sz="2000" b="1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execuției</a:t>
            </a:r>
            <a:r>
              <a:rPr lang="ro-RO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, </a:t>
            </a:r>
            <a:r>
              <a:rPr lang="ro-RO" sz="20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împărțind volumul de promisiuni între mai multe thread-uri simultane.</a:t>
            </a:r>
          </a:p>
          <a:p>
            <a:pPr marL="2160">
              <a:lnSpc>
                <a:spcPct val="90000"/>
              </a:lnSpc>
              <a:buClr>
                <a:srgbClr val="000000"/>
              </a:buClr>
            </a:pPr>
            <a:endParaRPr lang="en-US" sz="16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c9c8bf9-0949-40aa-b44c-7e98f82af279" xsi:nil="true"/>
    <lcf76f155ced4ddcb4097134ff3c332f xmlns="3fdd4eb4-493c-48cf-bddf-25f1a88be6fa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6B40607B74BC429BA29107EE76F9BC" ma:contentTypeVersion="10" ma:contentTypeDescription="Create a new document." ma:contentTypeScope="" ma:versionID="98b253cf885240279d5b48d80b9c5cae">
  <xsd:schema xmlns:xsd="http://www.w3.org/2001/XMLSchema" xmlns:xs="http://www.w3.org/2001/XMLSchema" xmlns:p="http://schemas.microsoft.com/office/2006/metadata/properties" xmlns:ns2="3fdd4eb4-493c-48cf-bddf-25f1a88be6fa" xmlns:ns3="5c9c8bf9-0949-40aa-b44c-7e98f82af279" targetNamespace="http://schemas.microsoft.com/office/2006/metadata/properties" ma:root="true" ma:fieldsID="2aec3460771e3131f6ae20c07797a576" ns2:_="" ns3:_="">
    <xsd:import namespace="3fdd4eb4-493c-48cf-bddf-25f1a88be6fa"/>
    <xsd:import namespace="5c9c8bf9-0949-40aa-b44c-7e98f82a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d4eb4-493c-48cf-bddf-25f1a88be6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5cd9f51-4d1e-4d57-bf3d-f118fc5c80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9c8bf9-0949-40aa-b44c-7e98f82af27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d44ef86-d410-4aab-9776-f81bc4fb9d14}" ma:internalName="TaxCatchAll" ma:showField="CatchAllData" ma:web="5c9c8bf9-0949-40aa-b44c-7e98f82a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D1E13A5-8F63-48B3-92D6-018A83981B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89158E-B27D-4A14-8D7F-900788E03765}">
  <ds:schemaRefs>
    <ds:schemaRef ds:uri="http://schemas.microsoft.com/office/2006/metadata/properties"/>
    <ds:schemaRef ds:uri="http://schemas.microsoft.com/office/infopath/2007/PartnerControls"/>
    <ds:schemaRef ds:uri="5c9c8bf9-0949-40aa-b44c-7e98f82af279"/>
    <ds:schemaRef ds:uri="3fdd4eb4-493c-48cf-bddf-25f1a88be6fa"/>
  </ds:schemaRefs>
</ds:datastoreItem>
</file>

<file path=customXml/itemProps3.xml><?xml version="1.0" encoding="utf-8"?>
<ds:datastoreItem xmlns:ds="http://schemas.openxmlformats.org/officeDocument/2006/customXml" ds:itemID="{A0D7B055-F4D1-4268-9D4E-C719361838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fdd4eb4-493c-48cf-bddf-25f1a88be6fa"/>
    <ds:schemaRef ds:uri="5c9c8bf9-0949-40aa-b44c-7e98f82af2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1540</TotalTime>
  <Words>864</Words>
  <Application>Microsoft Office PowerPoint</Application>
  <PresentationFormat>Widescreen</PresentationFormat>
  <Paragraphs>108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Algoritmi Paraleli</dc:title>
  <dc:subject/>
  <dc:creator>Andrei Patrascu</dc:creator>
  <dc:description/>
  <cp:lastModifiedBy>Antonie-Gabriel Belu</cp:lastModifiedBy>
  <cp:revision>447</cp:revision>
  <dcterms:created xsi:type="dcterms:W3CDTF">2021-03-01T13:17:33Z</dcterms:created>
  <dcterms:modified xsi:type="dcterms:W3CDTF">2025-12-18T14:18:26Z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ntentTypeId">
    <vt:lpwstr>0x010100416B40607B74BC429BA29107EE76F9BC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Widescreen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8</vt:i4>
  </property>
</Properties>
</file>